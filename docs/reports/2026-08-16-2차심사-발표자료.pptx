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인사와 팀 소개. 10초 안에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30초. 세 가지 문제를 빠르게 짚고 마지막 한 줄로 목적을 못박는다.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30초. "작년엔 생성형 AI였는데 왜 YOLO냐"에 미리 답하는 슬라이드. "작게 검증하고 크게 키웠다"는 서사로 말할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20초. 변명이 아니라 "설계 선택"으로 말할 것. 이걸 미리 말해두면 "왜 느리냐"는 질문을 막는다.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60초. 말은 최소로. 영상이 다 말해준다. 40시간이 몇 분으로 줄어드는 것이 눈에 보이게 하는 것이 목적.</a:t>
            </a:r>
          </a:p>
          <a:p>
            <a:r>
              <a:t>※ 발표 전 이 자리에 녹화 영상을 삽입할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40초. 여기서부터 '되짚기' 파트로 전환. 각 단계에 기술 설명을 얹어 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60초. 이 발표의 핵심 슬라이드. 세 가지를 말한다.</a:t>
            </a:r>
          </a:p>
          <a:p>
            <a:r>
              <a:t>1) 셋이 각자 독립적으로 본다 — 하나가 놓쳐도 다른 쪽이 잡는다</a:t>
            </a:r>
          </a:p>
          <a:p>
            <a:r>
              <a:t>2) 결과는 합집합 — 놓치는 것을 줄이는 쪽으로 설계했다. 검수자가 지우는 편이 못 찾는 것보다 낫다</a:t>
            </a:r>
          </a:p>
          <a:p>
            <a:r>
              <a:t>3) LLM은 껐다 켤 수 있다 — 외부 API라 망분리 환경 고려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40초. 관 밖 오탐 39%→0%가 이 설계의 결과. '맨홀이나 지상 장면을 결함으로 잘못 잡던 문제를 없앴다'로 말하면 쉽다.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40초. 가점 항목(공공데이터 활용)을 여기서 한 줄로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50초. 핵심 메시지는 '겹치는 게 12%뿐'.</a:t>
            </a:r>
          </a:p>
          <a:p>
            <a:r>
              <a:t>※ 정직하게: 이 값은 잘라놓은 사진 기준이고 연속 실영상 검증은 다음 단계다. 질문 받으면 그렇게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40초. 야장 PDF를 크게 보여준다. '자막 → 야장 칸' 화살표를 넣으면 이해가 빠르다.</a:t>
            </a:r>
          </a:p>
          <a:p>
            <a:r>
              <a:t>※ 발표 전 야장 PDF 스크린샷을 오른쪽에 넣을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40초. 팀의 대표 슬라이드. 40시간 → 4시간을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30초. 확산성 항목(20점) 보강용. 빠르게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20초. 질의응답으로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E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0" y="2761488"/>
            <a:ext cx="12191695" cy="54864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AI 기반 하수관로 CCTV 영상 자동분석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9FC9DE"/>
                </a:solidFill>
                <a:latin typeface="맑은 고딕"/>
              </a:rPr>
              <a:t>감독자가 40시간 보던 영상을, 이제 확인만 하면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C8D6DE"/>
                </a:solidFill>
                <a:latin typeface="맑은 고딕"/>
              </a:rPr>
              <a:t>수도권동부환경본부 환경시설관리처 시설사업5부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C8D6DE"/>
                </a:solidFill>
                <a:latin typeface="맑은 고딕"/>
              </a:rPr>
              <a:t>수어사이트 스쿼드(Sewer Sight Squad)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Ⅰ.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지금은 사람이 영상을 처음부터 끝까지 봅니다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22860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C0392B"/>
                </a:solidFill>
                <a:latin typeface="맑은 고딕"/>
              </a:rPr>
              <a:t>40시간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A5A5A"/>
                </a:solidFill>
                <a:latin typeface="맑은 고딕"/>
              </a:rPr>
              <a:t>현장 1개소(30km)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A5A5A"/>
                </a:solidFill>
                <a:latin typeface="맑은 고딕"/>
              </a:rPr>
              <a:t>판독 소요시간 / 1인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920240"/>
            <a:ext cx="3383280" cy="22860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80559" y="22402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5A5A5A"/>
                </a:solidFill>
                <a:latin typeface="맑은 고딕"/>
              </a:rPr>
              <a:t>숙련도 편차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1546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A5A5A"/>
                </a:solidFill>
                <a:latin typeface="맑은 고딕"/>
              </a:rPr>
              <a:t>검토자에 따라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A5A5A"/>
                </a:solidFill>
                <a:latin typeface="맑은 고딕"/>
              </a:rPr>
              <a:t>누락·오분류가 갈린다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20240"/>
            <a:ext cx="3383280" cy="22860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0" y="22402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5A5A5A"/>
                </a:solidFill>
                <a:latin typeface="맑은 고딕"/>
              </a:rPr>
              <a:t>수기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1546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A5A5A"/>
                </a:solidFill>
                <a:latin typeface="맑은 고딕"/>
              </a:rPr>
              <a:t>관경·거리·관로번호를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A5A5A"/>
                </a:solidFill>
                <a:latin typeface="맑은 고딕"/>
              </a:rPr>
              <a:t>손으로 옮겨 적는다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10725912" cy="86868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7259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영상을 다 볼 필요 없이, 봐야 할 곳만 보게 하자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Ⅰ.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작은 검증에서 시작해 본격 구축까지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1371600" cy="105156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020823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1단계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41447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DCEAF2"/>
                </a:solidFill>
                <a:latin typeface="맑은 고딕"/>
              </a:rPr>
              <a:t>~2026 상반기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29383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B2B2B"/>
                </a:solidFill>
                <a:latin typeface="맑은 고딕"/>
              </a:rPr>
              <a:t>생성형 AI 직접 판독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441447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A5A5A"/>
                </a:solidFill>
                <a:latin typeface="맑은 고딕"/>
              </a:rPr>
              <a:t>→ 신설관로에서 가능성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72968"/>
            <a:ext cx="1371600" cy="105156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39896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DCEAF2"/>
                </a:solidFill>
                <a:latin typeface="맑은 고딕"/>
              </a:rPr>
              <a:t>2026 하반기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27832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B2B2B"/>
                </a:solidFill>
                <a:latin typeface="맑은 고딕"/>
              </a:rPr>
              <a:t>공공데이터 51만장으로 딥러닝 학습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739896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A5A5A"/>
                </a:solidFill>
                <a:latin typeface="맑은 고딕"/>
              </a:rPr>
              <a:t>→ 노후관로·위치까지 확장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71416"/>
            <a:ext cx="1371600" cy="105156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38344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DCEAF2"/>
                </a:solidFill>
                <a:latin typeface="맑은 고딕"/>
              </a:rPr>
              <a:t>현재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5262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B2B2B"/>
                </a:solidFill>
                <a:latin typeface="맑은 고딕"/>
              </a:rPr>
              <a:t>판독기 3중 구조로 통합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038344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A5A5A"/>
                </a:solidFill>
                <a:latin typeface="맑은 고딕"/>
              </a:rPr>
              <a:t>→ 감독자는 확인만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Ⅱ.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지금 보실 화면은 이 노트북 한 대에서 돕니다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1234440" cy="86868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67128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984248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GPU 서버를 쓰면 더 빠르지만 월 비용이 발생합니다.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시범 단계에서는 로컬 CPU만으로 동작하도록 만들었습니다.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00400"/>
            <a:ext cx="1234440" cy="86868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보안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218688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관로 위치·GPS가 담긴 영상이 외부로 나가지 않습니다.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망분리 환경에서도 그대로 쓸 수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34840"/>
            <a:ext cx="1234440" cy="86868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4636008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453128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서버가 준비되면 그쪽 GPU로 넘기는 경로도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설계에 들어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9E5B"/>
                </a:solidFill>
                <a:latin typeface="맑은 고딕"/>
              </a:rPr>
              <a:t>프레임당 약 0.44초 — 6분 영상이 1~2분이면 끝납니다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Ⅱ.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이 다섯 단계가 전부입니다</a:t>
            </a:r>
          </a:p>
        </p:txBody>
      </p:sp>
      <p:pic>
        <p:nvPicPr>
          <p:cNvPr id="5" name="Picture 4" descr="fi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28558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0" y="3931920"/>
            <a:ext cx="5760720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200400" y="4343400"/>
            <a:ext cx="5760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5A5A5A"/>
                </a:solidFill>
                <a:latin typeface="맑은 고딕"/>
              </a:rPr>
              <a:t>▶  시연 영상 삽입 자리</a:t>
            </a:r>
          </a:p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5A5A5A"/>
                </a:solidFill>
                <a:latin typeface="맑은 고딕"/>
              </a:rPr>
              <a:t>(30~60초 · 사전 녹화본)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Ⅲ. 어떻게 동작하나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방금 보신 것을 단계별로 다시 보겠습니다</a:t>
            </a:r>
          </a:p>
        </p:txBody>
      </p:sp>
      <p:pic>
        <p:nvPicPr>
          <p:cNvPr id="5" name="Picture 4" descr="fi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28558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017BB1"/>
                </a:solidFill>
                <a:latin typeface="맑은 고딕"/>
              </a:rPr>
              <a:t>①~⑤ 전 과정이 감독자 1인 조작만으로 끝납니다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Ⅲ. 어떻게 동작하나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성격이 다른 판독기 셋이 같은 화면을 봅니다</a:t>
            </a:r>
          </a:p>
        </p:txBody>
      </p:sp>
      <p:pic>
        <p:nvPicPr>
          <p:cNvPr id="5" name="Picture 4" descr="fi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508760"/>
            <a:ext cx="9692640" cy="46657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Ⅲ. 어떻게 동작하나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CLS — 볼 곳을 고르고 이름을 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17BB1"/>
                </a:solidFill>
                <a:latin typeface="맑은 고딕"/>
              </a:rPr>
              <a:t>학습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24클래스 11,495장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결함 종류당 400장으로 균등화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17BB1"/>
                </a:solidFill>
                <a:latin typeface="맑은 고딕"/>
              </a:rPr>
              <a:t>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47288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EfficientNet-B0 · 384px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Colab T4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17BB1"/>
                </a:solidFill>
                <a:latin typeface="맑은 고딕"/>
              </a:rPr>
              <a:t>핵심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81728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정상의 20%를 '관 밖(맨홀·지상)'으로</a:t>
            </a:r>
          </a:p>
        </p:txBody>
      </p:sp>
      <p:pic>
        <p:nvPicPr>
          <p:cNvPr id="11" name="Picture 10" descr="fig_out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91640"/>
            <a:ext cx="5577840" cy="36576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Ⅲ. 어떻게 동작하나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DET — 결함의 위치를 찾아 표시합니다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737360" cy="914400"/>
          </a:xfrm>
          <a:prstGeom prst="round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30551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017BB1"/>
                </a:solidFill>
                <a:latin typeface="맑은 고딕"/>
              </a:rPr>
              <a:t>학습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65959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B2B2B"/>
                </a:solidFill>
                <a:latin typeface="맑은 고딕"/>
              </a:rPr>
              <a:t>18클래스 133,961장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B2B2B"/>
                </a:solidFill>
                <a:latin typeface="맑은 고딕"/>
              </a:rPr>
              <a:t>공공데이터포털 51만장에서 선별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54679"/>
            <a:ext cx="1737360" cy="914400"/>
          </a:xfrm>
          <a:prstGeom prst="round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3410711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017BB1"/>
                </a:solidFill>
                <a:latin typeface="맑은 고딕"/>
              </a:rPr>
              <a:t>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46119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B2B2B"/>
                </a:solidFill>
                <a:latin typeface="맑은 고딕"/>
              </a:rPr>
              <a:t>YOLO11-L · 960px · 50 epoch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B2B2B"/>
                </a:solidFill>
                <a:latin typeface="맑은 고딕"/>
              </a:rPr>
              <a:t>학습 약 29시간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34840"/>
            <a:ext cx="1737360" cy="914400"/>
          </a:xfrm>
          <a:prstGeom prst="round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469087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017BB1"/>
                </a:solidFill>
                <a:latin typeface="맑은 고딕"/>
              </a:rPr>
              <a:t>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526280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B2B2B"/>
                </a:solidFill>
                <a:latin typeface="맑은 고딕"/>
              </a:rPr>
              <a:t>mAP50 0.703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669280"/>
            <a:ext cx="10607040" cy="685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578815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2E9E5B"/>
                </a:solidFill>
                <a:latin typeface="맑은 고딕"/>
              </a:rPr>
              <a:t>공공데이터포털 하수관로 이미지 51만장 활용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Ⅲ. 어떻게 동작하나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둘을 합치면 놓치는 것이 크게 줄어듭니다</a:t>
            </a:r>
          </a:p>
        </p:txBody>
      </p:sp>
      <p:pic>
        <p:nvPicPr>
          <p:cNvPr id="5" name="Picture 4" descr="fig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6035040" cy="42058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2011680"/>
            <a:ext cx="434340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52360" y="2176272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E9E5B"/>
                </a:solidFill>
                <a:latin typeface="맑은 고딕"/>
              </a:rPr>
              <a:t>겹치는 것은 12%뿐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670048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두 판독기가 거의 다른 결함을 맞힙니다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703320"/>
            <a:ext cx="434340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52360" y="3867912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17BB1"/>
                </a:solidFill>
                <a:latin typeface="맑은 고딕"/>
              </a:rPr>
              <a:t>구간은 놓치지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361688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CLS 기준 23종 전부 탐지율 80% 이상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(14종은 100%)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57784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5A5A"/>
                </a:solidFill>
                <a:latin typeface="맑은 고딕"/>
              </a:rPr>
              <a:t>※ 검증 데이터셋 기준 실측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Ⅲ. 어떻게 동작하나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손으로 옮겨 적던 항목이 자동으로 채워집니다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17BB1"/>
                </a:solidFill>
                <a:latin typeface="맑은 고딕"/>
              </a:rPr>
              <a:t>영상 자막에서 읽어오는 10항목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맑은 고딕"/>
              </a:rPr>
              <a:t>· 관로번호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214884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맑은 고딕"/>
              </a:rPr>
              <a:t>· 관경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2432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맑은 고딕"/>
              </a:rPr>
              <a:t>· 거리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62432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맑은 고딕"/>
              </a:rPr>
              <a:t>· 현장명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981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맑은 고딕"/>
              </a:rPr>
              <a:t>· 상류·하류 맨홀번호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09981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맑은 고딕"/>
              </a:rPr>
              <a:t>· 조사일자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75304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맑은 고딕"/>
              </a:rPr>
              <a:t>· 관종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575304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맑은 고딕"/>
              </a:rPr>
              <a:t>· 배수방식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50791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맑은 고딕"/>
              </a:rPr>
              <a:t>· 주행방향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050791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맑은 고딕"/>
              </a:rPr>
              <a:t>· 위경도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00200"/>
            <a:ext cx="5212080" cy="42062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60" y="329184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5A5A5A"/>
                </a:solidFill>
                <a:latin typeface="맑은 고딕"/>
              </a:rPr>
              <a:t>야장 PDF 출력물</a:t>
            </a:r>
          </a:p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5A5A5A"/>
                </a:solidFill>
                <a:latin typeface="맑은 고딕"/>
              </a:rPr>
              <a:t>스크린샷 자리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29200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실물 조사 서식과 같은 A4 양식으로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맑은 고딕"/>
              </a:rPr>
              <a:t>바로 출력됩니다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Ⅳ.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판독 시간을 90% 이상 줄입니다</a:t>
            </a:r>
          </a:p>
        </p:txBody>
      </p:sp>
      <p:pic>
        <p:nvPicPr>
          <p:cNvPr id="5" name="Picture 4" descr="fig_e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5760720" cy="3626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5A5A5A"/>
                </a:solidFill>
                <a:latin typeface="맑은 고딕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783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5A5A5A"/>
                </a:solidFill>
                <a:latin typeface="맑은 고딕"/>
              </a:rPr>
              <a:t>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78308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9E5B"/>
                </a:solidFill>
                <a:latin typeface="맑은 고딕"/>
              </a:rPr>
              <a:t>도입 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B2B2B"/>
                </a:solidFill>
                <a:latin typeface="맑은 고딕"/>
              </a:rPr>
              <a:t>감독자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전담 판독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28600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9E5B"/>
                </a:solidFill>
                <a:latin typeface="맑은 고딕"/>
              </a:rPr>
              <a:t>AI 결과 최종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2461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B2B2B"/>
                </a:solidFill>
                <a:latin typeface="맑은 고딕"/>
              </a:rPr>
              <a:t>보고서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2461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수기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32461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9E5B"/>
                </a:solidFill>
                <a:latin typeface="맑은 고딕"/>
              </a:rPr>
              <a:t>자동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2062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B2B2B"/>
                </a:solidFill>
                <a:latin typeface="맑은 고딕"/>
              </a:rPr>
              <a:t>판독 일관성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2062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숙련도에 따라 상이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42062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9E5B"/>
                </a:solidFill>
                <a:latin typeface="맑은 고딕"/>
              </a:rPr>
              <a:t>표준 기준 일괄 적용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17BB1"/>
                </a:solidFill>
                <a:latin typeface="맑은 고딕"/>
              </a:rPr>
              <a:t>Ⅴ. 향후계획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B2B2B"/>
                </a:solidFill>
                <a:latin typeface="맑은 고딕"/>
              </a:rPr>
              <a:t>시범 적용에서 전국 확산까지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83280" cy="32004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83280" cy="86868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97510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①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2B2B2B"/>
                </a:solidFill>
                <a:latin typeface="맑은 고딕"/>
              </a:rPr>
              <a:t>개발 · 시범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수도권동부환경본부 관할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관로 현장 시범 적용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28800"/>
            <a:ext cx="3383280" cy="32004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383280" cy="868680"/>
          </a:xfrm>
          <a:prstGeom prst="roundRect">
            <a:avLst/>
          </a:prstGeom>
          <a:solidFill>
            <a:srgbClr val="305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80559" y="197510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② 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9260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2B2B2B"/>
                </a:solidFill>
                <a:latin typeface="맑은 고딕"/>
              </a:rPr>
              <a:t>고도화 · 확산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611880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사용자 피드백 반영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본사 및 전국 지역본부 배포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828800"/>
            <a:ext cx="3383280" cy="32004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83879" y="1828800"/>
            <a:ext cx="338328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83879" y="197510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③  2028~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9260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2B2B2B"/>
                </a:solidFill>
                <a:latin typeface="맑은 고딕"/>
              </a:rPr>
              <a:t>업무 확대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9" y="3611880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노후하수관로 진단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A5A5A"/>
                </a:solidFill>
                <a:latin typeface="맑은 고딕"/>
              </a:rPr>
              <a:t>상태등급 자동평가 연계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E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감독자가 40시간 보던 영상을,</a:t>
            </a:r>
          </a:p>
          <a:p>
            <a:pPr algn="ctr">
              <a:lnSpc>
                <a:spcPct val="135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이제 확인만 하면 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4206240"/>
            <a:ext cx="1920240" cy="45720"/>
          </a:xfrm>
          <a:prstGeom prst="roundRect">
            <a:avLst/>
          </a:prstGeom>
          <a:solidFill>
            <a:srgbClr val="017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9FC9DE"/>
                </a:solidFill>
                <a:latin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